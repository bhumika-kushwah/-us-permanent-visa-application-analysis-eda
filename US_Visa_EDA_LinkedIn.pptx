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B8-4AAE-AB74-F187FFC3D7D0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8-4AAE-AB74-F187FFC3D7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B8-4AAE-AB74-F187FFC3D7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B8-4AAE-AB74-F187FFC3D7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Certified (Approved)</c:v>
                </c:pt>
                <c:pt idx="1">
                  <c:v>Denied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92.8</c:v>
                </c:pt>
                <c:pt idx="1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B8-4AAE-AB74-F187FFC3D7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Certified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18200</c:v>
                </c:pt>
                <c:pt idx="1">
                  <c:v>17100</c:v>
                </c:pt>
                <c:pt idx="2">
                  <c:v>19400</c:v>
                </c:pt>
                <c:pt idx="3">
                  <c:v>22500</c:v>
                </c:pt>
                <c:pt idx="4">
                  <c:v>28300</c:v>
                </c:pt>
                <c:pt idx="5">
                  <c:v>33700</c:v>
                </c:pt>
                <c:pt idx="6">
                  <c:v>38200</c:v>
                </c:pt>
                <c:pt idx="7">
                  <c:v>41800</c:v>
                </c:pt>
                <c:pt idx="8">
                  <c:v>47600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7-4707-B81B-E306260DBC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Denied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1400</c:v>
                </c:pt>
                <c:pt idx="1">
                  <c:v>1200</c:v>
                </c:pt>
                <c:pt idx="2">
                  <c:v>1500</c:v>
                </c:pt>
                <c:pt idx="3">
                  <c:v>1700</c:v>
                </c:pt>
                <c:pt idx="4">
                  <c:v>2100</c:v>
                </c:pt>
                <c:pt idx="5">
                  <c:v>2500</c:v>
                </c:pt>
                <c:pt idx="6">
                  <c:v>2900</c:v>
                </c:pt>
                <c:pt idx="7">
                  <c:v>3100</c:v>
                </c:pt>
                <c:pt idx="8">
                  <c:v>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87-4707-B81B-E306260DB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Visa 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8C-421E-882D-9D3C4B117689}"/>
              </c:ext>
            </c:extLst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8C-421E-882D-9D3C4B117689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8C-421E-882D-9D3C4B117689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8C-421E-882D-9D3C4B117689}"/>
              </c:ext>
            </c:extLst>
          </c:dPt>
          <c:dPt>
            <c:idx val="4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8C-421E-882D-9D3C4B117689}"/>
              </c:ext>
            </c:extLst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8C-421E-882D-9D3C4B117689}"/>
              </c:ext>
            </c:extLst>
          </c:dPt>
          <c:dPt>
            <c:idx val="6"/>
            <c:invertIfNegative val="0"/>
            <c:bubble3D val="0"/>
            <c:spPr>
              <a:solidFill>
                <a:srgbClr val="BAE6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18C-421E-882D-9D3C4B117689}"/>
              </c:ext>
            </c:extLst>
          </c:dPt>
          <c:dPt>
            <c:idx val="7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18C-421E-882D-9D3C4B117689}"/>
              </c:ext>
            </c:extLst>
          </c:dPt>
          <c:dPt>
            <c:idx val="8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18C-421E-882D-9D3C4B117689}"/>
              </c:ext>
            </c:extLst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18C-421E-882D-9D3C4B1176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NEW YORK</c:v>
                </c:pt>
                <c:pt idx="1">
                  <c:v>HOUSTON</c:v>
                </c:pt>
                <c:pt idx="2">
                  <c:v>CHICAGO</c:v>
                </c:pt>
                <c:pt idx="3">
                  <c:v>SAN JOSE</c:v>
                </c:pt>
                <c:pt idx="4">
                  <c:v>ATLANTA</c:v>
                </c:pt>
                <c:pt idx="5">
                  <c:v>DALLAS</c:v>
                </c:pt>
                <c:pt idx="6">
                  <c:v>SEATTLE</c:v>
                </c:pt>
                <c:pt idx="7">
                  <c:v>LOS ANGELES</c:v>
                </c:pt>
                <c:pt idx="8">
                  <c:v>WASHINGTON</c:v>
                </c:pt>
                <c:pt idx="9">
                  <c:v>BOSTON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18400</c:v>
                </c:pt>
                <c:pt idx="1">
                  <c:v>14200</c:v>
                </c:pt>
                <c:pt idx="2">
                  <c:v>12800</c:v>
                </c:pt>
                <c:pt idx="3">
                  <c:v>11600</c:v>
                </c:pt>
                <c:pt idx="4">
                  <c:v>10900</c:v>
                </c:pt>
                <c:pt idx="5">
                  <c:v>10200</c:v>
                </c:pt>
                <c:pt idx="6">
                  <c:v>9800</c:v>
                </c:pt>
                <c:pt idx="7">
                  <c:v>9400</c:v>
                </c:pt>
                <c:pt idx="8">
                  <c:v>8700</c:v>
                </c:pt>
                <c:pt idx="9">
                  <c:v>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18C-421E-882D-9D3C4B1176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Visa 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0E-4C83-804C-E351AFAFE63D}"/>
              </c:ext>
            </c:extLst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0E-4C83-804C-E351AFAFE63D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0E-4C83-804C-E351AFAFE63D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0E-4C83-804C-E351AFAFE63D}"/>
              </c:ext>
            </c:extLst>
          </c:dPt>
          <c:dPt>
            <c:idx val="4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0E-4C83-804C-E351AFAFE63D}"/>
              </c:ext>
            </c:extLst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0E-4C83-804C-E351AFAFE63D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0E-4C83-804C-E351AFAFE63D}"/>
              </c:ext>
            </c:extLst>
          </c:dPt>
          <c:dPt>
            <c:idx val="7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0E-4C83-804C-E351AFAFE63D}"/>
              </c:ext>
            </c:extLst>
          </c:dPt>
          <c:dPt>
            <c:idx val="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0E-4C83-804C-E351AFAFE63D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60E-4C83-804C-E351AFAFE6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INFOSYS</c:v>
                </c:pt>
                <c:pt idx="1">
                  <c:v>WIPRO</c:v>
                </c:pt>
                <c:pt idx="2">
                  <c:v>TATA CONSULTANCY</c:v>
                </c:pt>
                <c:pt idx="3">
                  <c:v>COGNIZANT</c:v>
                </c:pt>
                <c:pt idx="4">
                  <c:v>HCL AMERICA</c:v>
                </c:pt>
                <c:pt idx="5">
                  <c:v>TECH MAHINDRA</c:v>
                </c:pt>
                <c:pt idx="6">
                  <c:v>IBM</c:v>
                </c:pt>
                <c:pt idx="7">
                  <c:v>DELOITTE</c:v>
                </c:pt>
                <c:pt idx="8">
                  <c:v>ERNST &amp; YOUNG</c:v>
                </c:pt>
                <c:pt idx="9">
                  <c:v>ACCENTURE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8900</c:v>
                </c:pt>
                <c:pt idx="1">
                  <c:v>7200</c:v>
                </c:pt>
                <c:pt idx="2">
                  <c:v>6800</c:v>
                </c:pt>
                <c:pt idx="3">
                  <c:v>6100</c:v>
                </c:pt>
                <c:pt idx="4">
                  <c:v>4800</c:v>
                </c:pt>
                <c:pt idx="5">
                  <c:v>4200</c:v>
                </c:pt>
                <c:pt idx="6">
                  <c:v>3800</c:v>
                </c:pt>
                <c:pt idx="7">
                  <c:v>3400</c:v>
                </c:pt>
                <c:pt idx="8">
                  <c:v>3100</c:v>
                </c:pt>
                <c:pt idx="9">
                  <c:v>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60E-4C83-804C-E351AFAFE6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Visa 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FC-43FF-A9BF-BD66D90BADA2}"/>
              </c:ext>
            </c:extLst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FC-43FF-A9BF-BD66D90BADA2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FC-43FF-A9BF-BD66D90BADA2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FC-43FF-A9BF-BD66D90BADA2}"/>
              </c:ext>
            </c:extLst>
          </c:dPt>
          <c:dPt>
            <c:idx val="4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FC-43FF-A9BF-BD66D90BADA2}"/>
              </c:ext>
            </c:extLst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FFC-43FF-A9BF-BD66D90BADA2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FFC-43FF-A9BF-BD66D90BADA2}"/>
              </c:ext>
            </c:extLst>
          </c:dPt>
          <c:dPt>
            <c:idx val="7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FFC-43FF-A9BF-BD66D90BADA2}"/>
              </c:ext>
            </c:extLst>
          </c:dPt>
          <c:dPt>
            <c:idx val="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FFC-43FF-A9BF-BD66D90BADA2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FFC-43FF-A9BF-BD66D90BADA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software engineer</c:v>
                </c:pt>
                <c:pt idx="1">
                  <c:v>computer systems analyst</c:v>
                </c:pt>
                <c:pt idx="2">
                  <c:v>software developer</c:v>
                </c:pt>
                <c:pt idx="3">
                  <c:v>programmer analyst</c:v>
                </c:pt>
                <c:pt idx="4">
                  <c:v>senior software engineer</c:v>
                </c:pt>
                <c:pt idx="5">
                  <c:v>systems analyst</c:v>
                </c:pt>
                <c:pt idx="6">
                  <c:v>data analyst</c:v>
                </c:pt>
                <c:pt idx="7">
                  <c:v>project manager</c:v>
                </c:pt>
                <c:pt idx="8">
                  <c:v>business analyst</c:v>
                </c:pt>
                <c:pt idx="9">
                  <c:v>accountant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28400</c:v>
                </c:pt>
                <c:pt idx="1">
                  <c:v>16200</c:v>
                </c:pt>
                <c:pt idx="2">
                  <c:v>12800</c:v>
                </c:pt>
                <c:pt idx="3">
                  <c:v>11600</c:v>
                </c:pt>
                <c:pt idx="4">
                  <c:v>9400</c:v>
                </c:pt>
                <c:pt idx="5">
                  <c:v>8200</c:v>
                </c:pt>
                <c:pt idx="6">
                  <c:v>7100</c:v>
                </c:pt>
                <c:pt idx="7">
                  <c:v>6400</c:v>
                </c:pt>
                <c:pt idx="8">
                  <c:v>5800</c:v>
                </c:pt>
                <c:pt idx="9">
                  <c:v>4900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FFC-43FF-A9BF-BD66D90BAD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BF-424D-8170-5686A6F0B287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BF-424D-8170-5686A6F0B287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BF-424D-8170-5686A6F0B287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BF-424D-8170-5686A6F0B287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BF-424D-8170-5686A6F0B287}"/>
              </c:ext>
            </c:extLst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BF-424D-8170-5686A6F0B287}"/>
              </c:ext>
            </c:extLst>
          </c:dPt>
          <c:dPt>
            <c:idx val="6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BF-424D-8170-5686A6F0B287}"/>
              </c:ext>
            </c:extLst>
          </c:dPt>
          <c:dPt>
            <c:idx val="7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7BF-424D-8170-5686A6F0B287}"/>
              </c:ext>
            </c:extLst>
          </c:dPt>
          <c:dPt>
            <c:idx val="8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7BF-424D-8170-5686A6F0B287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7BF-424D-8170-5686A6F0B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India</c:v>
                </c:pt>
                <c:pt idx="1">
                  <c:v>China</c:v>
                </c:pt>
                <c:pt idx="2">
                  <c:v>South Korea</c:v>
                </c:pt>
                <c:pt idx="3">
                  <c:v>Canada</c:v>
                </c:pt>
                <c:pt idx="4">
                  <c:v>Philippines</c:v>
                </c:pt>
                <c:pt idx="5">
                  <c:v>Mexico</c:v>
                </c:pt>
                <c:pt idx="6">
                  <c:v>Pakistan</c:v>
                </c:pt>
                <c:pt idx="7">
                  <c:v>Taiwan</c:v>
                </c:pt>
                <c:pt idx="8">
                  <c:v>UK</c:v>
                </c:pt>
                <c:pt idx="9">
                  <c:v>Japan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168000</c:v>
                </c:pt>
                <c:pt idx="1">
                  <c:v>38000</c:v>
                </c:pt>
                <c:pt idx="2">
                  <c:v>12400</c:v>
                </c:pt>
                <c:pt idx="3">
                  <c:v>9800</c:v>
                </c:pt>
                <c:pt idx="4">
                  <c:v>8600</c:v>
                </c:pt>
                <c:pt idx="5">
                  <c:v>7200</c:v>
                </c:pt>
                <c:pt idx="6">
                  <c:v>6400</c:v>
                </c:pt>
                <c:pt idx="7">
                  <c:v>5800</c:v>
                </c:pt>
                <c:pt idx="8">
                  <c:v>4200</c:v>
                </c:pt>
                <c:pt idx="9">
                  <c:v>3900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7BF-424D-8170-5686A6F0B2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7E-4099-BF42-8C418FE9CD68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7E-4099-BF42-8C418FE9CD68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7E-4099-BF42-8C418FE9CD68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7E-4099-BF42-8C418FE9CD68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7E-4099-BF42-8C418FE9CD68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E7E-4099-BF42-8C418FE9CD68}"/>
              </c:ext>
            </c:extLst>
          </c:dPt>
          <c:cat>
            <c:strRef>
              <c:f>Sheet1!$A$2:$A$7</c:f>
              <c:strCache>
                <c:ptCount val="6"/>
                <c:pt idx="0">
                  <c:v>Bachelor's</c:v>
                </c:pt>
                <c:pt idx="1">
                  <c:v>Master's</c:v>
                </c:pt>
                <c:pt idx="2">
                  <c:v>Doctorate</c:v>
                </c:pt>
                <c:pt idx="3">
                  <c:v>Associate's</c:v>
                </c:pt>
                <c:pt idx="4">
                  <c:v>High School</c:v>
                </c:pt>
                <c:pt idx="5">
                  <c:v>None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142000</c:v>
                </c:pt>
                <c:pt idx="1">
                  <c:v>118000</c:v>
                </c:pt>
                <c:pt idx="2">
                  <c:v>28000</c:v>
                </c:pt>
                <c:pt idx="3">
                  <c:v>12000</c:v>
                </c:pt>
                <c:pt idx="4">
                  <c:v>8000</c:v>
                </c:pt>
                <c:pt idx="5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E7E-4099-BF42-8C418FE9C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40-4B67-AFCD-E56207730DBC}"/>
              </c:ext>
            </c:extLst>
          </c:dPt>
          <c:dPt>
            <c:idx val="1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40-4B67-AFCD-E56207730DBC}"/>
              </c:ext>
            </c:extLst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40-4B67-AFCD-E56207730DBC}"/>
              </c:ext>
            </c:extLst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40-4B67-AFCD-E56207730DBC}"/>
              </c:ext>
            </c:extLst>
          </c:dPt>
          <c:dPt>
            <c:idx val="4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40-4B67-AFCD-E56207730DBC}"/>
              </c:ext>
            </c:extLst>
          </c:dPt>
          <c:dPt>
            <c:idx val="5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40-4B67-AFCD-E56207730DBC}"/>
              </c:ext>
            </c:extLst>
          </c:dPt>
          <c:dPt>
            <c:idx val="6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E40-4B67-AFCD-E56207730DBC}"/>
              </c:ext>
            </c:extLst>
          </c:dPt>
          <c:dPt>
            <c:idx val="7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E40-4B67-AFCD-E56207730DBC}"/>
              </c:ext>
            </c:extLst>
          </c:dPt>
          <c:dPt>
            <c:idx val="8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E40-4B67-AFCD-E56207730DBC}"/>
              </c:ext>
            </c:extLst>
          </c:dPt>
          <c:dPt>
            <c:idx val="9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E40-4B67-AFCD-E56207730DB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40-4B67-AFCD-E56207730DB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40-4B67-AFCD-E56207730DB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40-4B67-AFCD-E56207730DB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40-4B67-AFCD-E56207730DB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E40-4B67-AFCD-E56207730DB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E40-4B67-AFCD-E56207730DBC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E40-4B67-AFCD-E56207730DBC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E40-4B67-AFCD-E56207730DBC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E40-4B67-AFCD-E56207730DBC}"/>
                </c:ext>
              </c:extLst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E40-4B67-AFCD-E56207730D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Computer &amp; Math</c:v>
                </c:pt>
                <c:pt idx="1">
                  <c:v>Architecture &amp; Eng.</c:v>
                </c:pt>
                <c:pt idx="2">
                  <c:v>Business &amp; Finance</c:v>
                </c:pt>
                <c:pt idx="3">
                  <c:v>Healthcare</c:v>
                </c:pt>
                <c:pt idx="4">
                  <c:v>Life/Physical Science</c:v>
                </c:pt>
                <c:pt idx="5">
                  <c:v>Education</c:v>
                </c:pt>
                <c:pt idx="6">
                  <c:v>Management</c:v>
                </c:pt>
                <c:pt idx="7">
                  <c:v>Arts &amp; Media</c:v>
                </c:pt>
                <c:pt idx="8">
                  <c:v>Sales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52.4</c:v>
                </c:pt>
                <c:pt idx="1">
                  <c:v>12.8</c:v>
                </c:pt>
                <c:pt idx="2">
                  <c:v>10.199999999999999</c:v>
                </c:pt>
                <c:pt idx="3">
                  <c:v>8.6</c:v>
                </c:pt>
                <c:pt idx="4">
                  <c:v>4.8</c:v>
                </c:pt>
                <c:pt idx="5">
                  <c:v>3.2</c:v>
                </c:pt>
                <c:pt idx="6">
                  <c:v>2.8</c:v>
                </c:pt>
                <c:pt idx="7">
                  <c:v>1.9</c:v>
                </c:pt>
                <c:pt idx="8">
                  <c:v>1.5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E40-4B67-AFCD-E56207730D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F3-4D98-8D16-F03BF77991BD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F3-4D98-8D16-F03BF77991BD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F3-4D98-8D16-F03BF77991BD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F3-4D98-8D16-F03BF77991BD}"/>
              </c:ext>
            </c:extLst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F3-4D98-8D16-F03BF77991BD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F3-4D98-8D16-F03BF77991BD}"/>
              </c:ext>
            </c:extLst>
          </c:dPt>
          <c:dPt>
            <c:idx val="6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AF3-4D98-8D16-F03BF77991BD}"/>
              </c:ext>
            </c:extLst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AF3-4D98-8D16-F03BF77991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Alien Employment Perm.</c:v>
                </c:pt>
                <c:pt idx="1">
                  <c:v>H1B</c:v>
                </c:pt>
                <c:pt idx="2">
                  <c:v>L1A</c:v>
                </c:pt>
                <c:pt idx="3">
                  <c:v>L1B</c:v>
                </c:pt>
                <c:pt idx="4">
                  <c:v>E3</c:v>
                </c:pt>
                <c:pt idx="5">
                  <c:v>TN</c:v>
                </c:pt>
                <c:pt idx="6">
                  <c:v>H1B1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198400</c:v>
                </c:pt>
                <c:pt idx="1">
                  <c:v>68200</c:v>
                </c:pt>
                <c:pt idx="2">
                  <c:v>22100</c:v>
                </c:pt>
                <c:pt idx="3">
                  <c:v>18400</c:v>
                </c:pt>
                <c:pt idx="4">
                  <c:v>8600</c:v>
                </c:pt>
                <c:pt idx="5">
                  <c:v>6200</c:v>
                </c:pt>
                <c:pt idx="6">
                  <c:v>4100</c:v>
                </c:pt>
                <c:pt idx="7">
                  <c:v>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AF3-4D98-8D16-F03BF77991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95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1737360"/>
            <a:ext cx="5303520" cy="5303520"/>
          </a:xfrm>
          <a:prstGeom prst="ellipse">
            <a:avLst/>
          </a:prstGeom>
          <a:solidFill>
            <a:srgbClr val="1E3A5F">
              <a:alpha val="16000"/>
            </a:srgbClr>
          </a:solidFill>
          <a:ln w="12700">
            <a:solidFill>
              <a:srgbClr val="1E3A5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822960"/>
            <a:ext cx="3108960" cy="3108960"/>
          </a:xfrm>
          <a:prstGeom prst="ellipse">
            <a:avLst/>
          </a:prstGeom>
          <a:solidFill>
            <a:srgbClr val="1E3A5F">
              <a:alpha val="36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🇺🇸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Series  ·  7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Permanent Visa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Analysis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7200" y="4187952"/>
            <a:ext cx="29260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43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approved? Who gets denied? EDA reveals the patterns 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956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·  us_perm_visas.csv  ·  374,362 applications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291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Bhumika Kushwah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2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40487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uncover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"/>
            <a:ext cx="72237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685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594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vs Denial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005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US permanent visa applications get certified vs denied?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72237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Employer Cities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1945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 cities employ the most visa applicants? Year-wise trends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880360"/>
            <a:ext cx="72237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2971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Title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383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1,000s of messy titles into clean groups for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069080"/>
            <a:ext cx="72237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778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Country of Citizenship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45720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nationalities applying for US permanent visas (India, China…)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257800"/>
            <a:ext cx="72237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7784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Sector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5760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education levels &amp; US economic sectors dominate applications?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64739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what drives US visa approval — ready for ML prediction 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3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Dataset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Data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26517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374,362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Applications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~367K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32588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3504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0" y="132588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86968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6968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Columns: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36499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64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case_status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36499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364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case_no / case_number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36499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364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69680" y="336499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3364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employer_name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86791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67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employer_city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386791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867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employer_state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386791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867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job_info_job_title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69680" y="386791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3867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country_of_citizenship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37083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370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us_economic_sector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0" y="437083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370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class_of_admission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35040" y="437083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4370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application_type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869680" y="437083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4370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foreign_worker_info_education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487375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873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pw_soc_code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0" y="487375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0" y="4873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pw_amount_9089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35040" y="4873752"/>
            <a:ext cx="265176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35040" y="4873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pw_source_name_9089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'Withdrawn' cases removed · 'Certified-Expired' merged into 'Certified' · Only columns with ≥330,000 non-null values kept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4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Data Cleaning &amp; Feature Engineering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95360" y="2560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string cleaning &amp; encoding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81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13990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Merged case_no + case_number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cols were duplicate identifiers — top 135K rows used case_no, rest used case_number. Merged into one 'casenumber'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3444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81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13990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Cleaned Target Variable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1828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'Withdrawn' status, merged 'Certified-Expired' → 'Certified'. Final: Certified=1, Denied=0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9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80160" y="3136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Parsed decision_date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→ extracted year, month, day. Key insight: 2016 had highest application volume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97180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97180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319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32320" y="3136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Standardised Job Titles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3566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Lowercased, split on '-', 'ii', '/'. Removed Sr./IV/V suffixes, stripped spaces → grouped 1000s into clean titles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70916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70916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280160" y="4873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 &amp; State Normalisation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303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employer_city → .str.upper(). State abbreviations mapped to full names. Mode fill for nulls in employer_state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70916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709160"/>
            <a:ext cx="914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132320" y="4873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pw_soc_code &amp; salary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5303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'.' and '-' from SOC codes, trimmed to 6 digits. pw_amount_9089 commas removed → float, nulls → median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Final step: LabelEncoder applied to all categorical columns → dataset ready for ML classification model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5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Insight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Visa Approval vs Denial Rate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 of applications are Certified — only 7.2% are Denied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481328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627632"/>
            <a:ext cx="54864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627632"/>
            <a:ext cx="54864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360920" y="17922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~341K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778240" y="18653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360920" y="24323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60920" y="28346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approved for US permanent visa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3749040"/>
            <a:ext cx="54864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3749040"/>
            <a:ext cx="54864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❌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360920" y="39136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~26K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778240" y="3986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360920" y="45537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Denied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60920" y="495604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rejected — 1 in 14 applicants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5559552"/>
            <a:ext cx="548640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55778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Class imbalance: 92.8% vs 7.2% — must use SMOTE, class_weight or F1-score when building ML classifier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6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Insight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Year-wise Application Trend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trend overall · 2016 was the peak year for US visa applications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7772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1481328"/>
            <a:ext cx="347472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6642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412480" y="23957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412480" y="2999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778240" y="3429000"/>
            <a:ext cx="27432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77072" y="3584448"/>
            <a:ext cx="3337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68512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2008→2016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378440" y="36210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~2.6×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77072" y="4059936"/>
            <a:ext cx="3337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68512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378440" y="40965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~92%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577072" y="4535424"/>
            <a:ext cx="3337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68512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378440" y="4572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412480" y="51663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Certified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Denied grew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proportion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5577840"/>
            <a:ext cx="77724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5961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Year extracted from decision_date using pd.to_datetime().dt.year — critical datetime EDA technique for time-series analysis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7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Insight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Employer Cities for Visa Applicants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Houston &amp; Chicago lead · IT hubs like San Jose &amp; Seattle growing year-on-year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1481328"/>
            <a:ext cx="365760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691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🏙️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13816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York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13816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City · 18,400 apps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364992"/>
            <a:ext cx="29260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02752" y="3520440"/>
            <a:ext cx="3337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Houston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149840" y="3584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AE6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14,200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02752" y="4087368"/>
            <a:ext cx="3337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94192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Chicago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49840" y="41513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12,800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02752" y="4654296"/>
            <a:ext cx="3337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4745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San Jose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149840" y="47183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11,600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38160" y="53035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finance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dominate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10 cities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5687568"/>
            <a:ext cx="75895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70585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employer_city converted to UPPERCASE for standardisation — 'New York' = 'NEW YORK' = 'new york' all merged correctly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8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Insight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Employers by Visa Applications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IT consulting giants dominate — Infosys, Wipro, TCS lead the charts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7589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1508760"/>
            <a:ext cx="36576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0" y="1508760"/>
            <a:ext cx="9144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176479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🇮🇳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979408" y="158191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351008" y="16184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Indian IT Firms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79408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Infosys, Wipro, TCS, Cognizant, HCL dominate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38160" y="2743200"/>
            <a:ext cx="36576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2743200"/>
            <a:ext cx="91440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299923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979408" y="281635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351008" y="28529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Dominant Sector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79408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software companies file most visas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38160" y="3977640"/>
            <a:ext cx="36576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0" y="3977640"/>
            <a:ext cx="9144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423367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979408" y="405079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UPPER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351008" y="4087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Standardisation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79408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employer_name → .str.upper() to merge duplicates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138160" y="5212080"/>
            <a:ext cx="36576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0" y="5212080"/>
            <a:ext cx="9144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75320" y="54681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979408" y="52852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0351008" y="5321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Imputation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979408" y="5806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employer_name filled with mode value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9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Insight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Job Titles — After Feature Engineering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#1 · Cleaned 1,000s of noisy titles into standard groups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1481328"/>
            <a:ext cx="365760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66420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💼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138160" y="23591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28,400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138160" y="29626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job title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584448"/>
            <a:ext cx="29260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02752" y="3730752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3749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Lowercased all titles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302752" y="4078224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4096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 on '-', 'ii', '/'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02752" y="4425696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4192" y="44439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Replaced 'Sr.' → 'Senior'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302752" y="4773168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47914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Stripped extra spaces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02752" y="5120640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51389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Replaced NaN strings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38160" y="5486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NLP-style cleaning!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5687568"/>
            <a:ext cx="758952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70585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cleaning: 'Software Engineer', 'SOFTWARE ENGINEER - III', 'Sr. Software Engineer' were 3 different groups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10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Insight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Country of Citizenship &amp; Education Level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China dominate applications · Bachelor's degree is the most common education level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50474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Country of Citizenship (top 10)</a:t>
            </a:r>
            <a:endParaRPr lang="en-US" sz="10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365760" y="5440680"/>
          <a:ext cx="5669280" cy="1664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699516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Distribution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5532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1508760"/>
            <a:ext cx="9144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🇮🇳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104888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~168K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567928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— #1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04888" y="21671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 of all applications — overwhelmingly dominant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63640" y="2807208"/>
            <a:ext cx="5532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2807208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0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🇨🇳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7104888" y="2898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~38K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567928" y="2935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China — #2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104888" y="34655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10%+ of applications — distant second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63640" y="4105656"/>
            <a:ext cx="5532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63640" y="4105656"/>
            <a:ext cx="9144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0" y="43799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7104888" y="4197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38.7%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567928" y="4233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Bachelor's Most Common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104888" y="47640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142K applicants with Bachelor's degree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263640" y="5404104"/>
            <a:ext cx="5532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63640" y="5404104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400800" y="5678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7104888" y="54955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32.2%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8567928" y="5532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Master's — 2nd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104888" y="6062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118K applicants — high qualification level overall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11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Insight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Economic Sector Distribution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Computer Science dominates · Healthcare, Finance &amp; Engineering are next in line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481328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1508760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0" y="1508760"/>
            <a:ext cx="9144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73568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52.4%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45168" y="16367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&amp; Math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73568" y="21671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sector by far — IT boom visible clearly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0" y="2807208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0" y="2807208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973568" y="28986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12.8%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345168" y="29352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Eng.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73568" y="34655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— structural &amp; systems engineering roles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0" y="4105656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0" y="4105656"/>
            <a:ext cx="9144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43799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973568" y="41970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345168" y="4233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Finance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73568" y="476402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Analysts, consultants, accountants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132320" y="5404104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132320" y="5404104"/>
            <a:ext cx="9144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69480" y="5678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7973568" y="54955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345168" y="5532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973568" y="60624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physicians, researchers growing steadily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32320" y="6720840"/>
            <a:ext cx="46634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23760" y="673912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Pie chart drawn using custom value_counts loop → plt.pie() with explode &amp; shadow — great Matplotlib practice!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12 /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1945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Insight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Type &amp; ML Preprocessing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 applications dominate · LabelEncoder applied to all categorical columns for ML readiness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81328"/>
          <a:ext cx="71323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50474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Type Distribution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5468112"/>
            <a:ext cx="71323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5559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ML Preprocessing Pipeline Applied: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592531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Selected 9 key feature columns (chosen_attrs)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18134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LabelEncoder on ALL categorical columns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373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case_status → Binary: Certified=1, Denied=0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66934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now fully numeric — ready for Random Forest / XGBoost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1508760"/>
            <a:ext cx="36576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1508760"/>
            <a:ext cx="9144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979408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351008" y="16367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 Applications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79408" y="2167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Employment Permanent — largest category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38160" y="2807208"/>
            <a:ext cx="36576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8160" y="2807208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8979408" y="28986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68K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351008" y="29352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H1B Visa Class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79408" y="3465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workers — 2nd most common type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38160" y="4105656"/>
            <a:ext cx="36576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38160" y="4105656"/>
            <a:ext cx="9144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75320" y="43799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979408" y="41970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351008" y="4233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Selected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979408" y="4764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50+ columns — key feature selection step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138160" y="5404104"/>
            <a:ext cx="36576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38160" y="5404104"/>
            <a:ext cx="9144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678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8979408" y="54955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0351008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Encoding Used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979408" y="6062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for all categorical → int values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164592"/>
            <a:ext cx="118872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13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Key Learnings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US Visa EDA taught me about data &amp; immigration patterns 🇺🇸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394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1618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 duplicate columns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case_no &amp; case_number held same data split across rows. A custom loop merged them into one clean column — real-world pattern!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17320"/>
            <a:ext cx="53949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78040" y="1618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 needs cleaning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305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'Withdrawn' removed, 'Certified-Expired' merged. Raw target variables are never clean — always inspect unique() first.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53949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17320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title NLP is powerful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221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string operations (lower, split, strip, replace) transformed 1000s of noisy titles into 10 clean groups. High EDA impact!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108960"/>
            <a:ext cx="53949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78040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= 45%+ of US visa apps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8221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dominates US permanent visa applications by a massive margin — an insight impossible to see without EDA visualisation.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00600"/>
            <a:ext cx="53949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417320" y="5001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dominates everything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5138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 Computer &amp; Math sector, Software Engineer = #1 job, Infosys = #1 employer. The US visa pipeline runs on tech talent.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800600"/>
            <a:ext cx="539496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800600"/>
            <a:ext cx="53949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178040" y="5001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92.8% approval = class imbalance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5138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F1-score, SMOTE or class_weight in ML — accuracy alone would be misleading. This EDA is important for ML prep.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 notebook + dataset in comments  ·  Follow for EDA 8/10 coming soon  ·  — Bhumika Kushwah, Data Analyst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1459</Words>
  <Application>Microsoft Office PowerPoint</Application>
  <PresentationFormat>Widescreen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Visa EDA</dc:title>
  <dc:subject>PptxGenJS Presentation</dc:subject>
  <dc:creator>PptxGenJS</dc:creator>
  <cp:lastModifiedBy>raashi kushwah</cp:lastModifiedBy>
  <cp:revision>2</cp:revision>
  <dcterms:created xsi:type="dcterms:W3CDTF">2026-05-10T04:42:10Z</dcterms:created>
  <dcterms:modified xsi:type="dcterms:W3CDTF">2026-05-10T04:45:40Z</dcterms:modified>
</cp:coreProperties>
</file>